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hackathon prototype. The core story is trustworthy preparation, bounded model inputs, a small tuned model, and reliable output. Do not claim real fraud accuracy without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inventory counted empty cells. Typed parsing found additional corrupt nonempty amounts and timestamps. Counts below are from 988 unique transaction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boundary is structural, not a claim that a blacklist catches every attack. Only allowlisted numeric values, booleans, and nulls are serialized. Attackers can still falsify numeric facts; this is outside prompt-injection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notebook trains q_proj and v_proj adapters for 120 steps. Prompt tokens are masked from the loss. It saves and reloads the adapter before inference. Training data uses consistent number formatting and a separate synthetic holdout. Sources: https://github.com/ml-explore/mlx-lm/blob/main/mlx_lm/LORA.md and https://huggingface.co/mlx-community/Llama-3.2-1B-Instruct-4bit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adapter is not a full standalone base model. Prompt tokens are masked from training loss. The synthetic holdout uses a different seed but shares the generator. Publication of supplied dummy data was explicitly authorized by the user. Download the checkpoint-1 release; load the base revision plus adapter using the artifact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From messy banking data to a clear risk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A practical walkthrough of the notebook, model, and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Connect three tables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Keep every source row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Make data defects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Remove untrusted text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Fine-tune a small model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Compare against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Validate every prediction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Export strict JSON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Submit the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07D80"/>
                </a:solidFill>
                <a:latin typeface="Aptos"/>
              </a:defRPr>
            </a:pPr>
            <a:r>
              <a:t>Executed locally with Llama 3.2 and the Mac’s Apple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What the challenge asks us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Six requirements, each mapped to a visible notebook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383280" cy="150876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01  Clean +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20439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Typed parsing and audited account/customer joins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383280" cy="150876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02  Resist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39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Raw strings excluded from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651760"/>
            <a:ext cx="3383280" cy="150876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03  Use a small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3520439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Parameter count checked to be below 3B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3383280" cy="150876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04  Fine-tune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212080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Train, save, and reload a LoRA adapter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343400"/>
            <a:ext cx="3383280" cy="150876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05  Strict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12080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Four fields validated on every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4343400"/>
            <a:ext cx="3383280" cy="150876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06  Reproducible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5212080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Notebook, hashes, versions, audit, adapter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What we actually received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The implementation follows the supplied files, not just the example description.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383280" cy="23774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1,000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2043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988 unique IDs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12 exact duplicate rows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8 unmatched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383280" cy="23774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178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3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178 unique IDs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Account owners resolve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Missing metadata exists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51760"/>
            <a:ext cx="3383280" cy="23774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124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2043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124 unique IDs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No fraud-label column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No transaction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Typed checks: 27 unusable amounts and 75 unusable timestamps among unique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Three tables become one safe feature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Left joins preserve transactions even when an account or customer cannot be 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291840" cy="21031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29260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account_id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customer_id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behavioral signals</a:t>
            </a:r>
          </a:p>
        </p:txBody>
      </p:sp>
      <p:sp>
        <p:nvSpPr>
          <p:cNvPr id="10" name="Chevron 9"/>
          <p:cNvSpPr/>
          <p:nvPr/>
        </p:nvSpPr>
        <p:spPr>
          <a:xfrm>
            <a:off x="4023360" y="347472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743200"/>
            <a:ext cx="3108960" cy="21031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611880"/>
            <a:ext cx="27432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Match account_id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Resolve customer owner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Audit conflicts</a:t>
            </a:r>
          </a:p>
        </p:txBody>
      </p:sp>
      <p:sp>
        <p:nvSpPr>
          <p:cNvPr id="14" name="Chevron 13"/>
          <p:cNvSpPr/>
          <p:nvPr/>
        </p:nvSpPr>
        <p:spPr>
          <a:xfrm>
            <a:off x="7726679" y="347472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291840" cy="21031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11880"/>
            <a:ext cx="29260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Match customer_id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Check linkage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Exclude personal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7D80"/>
                </a:solidFill>
                <a:latin typeface="Aptos"/>
              </a:defRPr>
            </a:pPr>
            <a:r>
              <a:t>988 decisions → map exact duplicates back → 1,000 output rows in original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The pipeline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Every stage has an explicit output and a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834640"/>
            <a:ext cx="1691640" cy="16916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Raw CSVs</a:t>
            </a:r>
          </a:p>
        </p:txBody>
      </p:sp>
      <p:sp>
        <p:nvSpPr>
          <p:cNvPr id="10" name="Chevron 9"/>
          <p:cNvSpPr/>
          <p:nvPr/>
        </p:nvSpPr>
        <p:spPr>
          <a:xfrm>
            <a:off x="2313432" y="3456432"/>
            <a:ext cx="164592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4600" y="2834640"/>
            <a:ext cx="1691640" cy="16916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30175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70332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Nulls + flags</a:t>
            </a:r>
          </a:p>
        </p:txBody>
      </p:sp>
      <p:sp>
        <p:nvSpPr>
          <p:cNvPr id="14" name="Chevron 13"/>
          <p:cNvSpPr/>
          <p:nvPr/>
        </p:nvSpPr>
        <p:spPr>
          <a:xfrm>
            <a:off x="4233672" y="3456432"/>
            <a:ext cx="164592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834640"/>
            <a:ext cx="1691640" cy="16916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0332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Linked records</a:t>
            </a:r>
          </a:p>
        </p:txBody>
      </p:sp>
      <p:sp>
        <p:nvSpPr>
          <p:cNvPr id="18" name="Chevron 17"/>
          <p:cNvSpPr/>
          <p:nvPr/>
        </p:nvSpPr>
        <p:spPr>
          <a:xfrm>
            <a:off x="6153912" y="3456432"/>
            <a:ext cx="164592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691640" cy="16916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175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Restrict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Typed features</a:t>
            </a:r>
          </a:p>
        </p:txBody>
      </p:sp>
      <p:sp>
        <p:nvSpPr>
          <p:cNvPr id="22" name="Chevron 21"/>
          <p:cNvSpPr/>
          <p:nvPr/>
        </p:nvSpPr>
        <p:spPr>
          <a:xfrm>
            <a:off x="8074152" y="3456432"/>
            <a:ext cx="164592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5320" y="2834640"/>
            <a:ext cx="1691640" cy="16916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0175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70332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Tuned SLM</a:t>
            </a:r>
          </a:p>
        </p:txBody>
      </p:sp>
      <p:sp>
        <p:nvSpPr>
          <p:cNvPr id="26" name="Chevron 25"/>
          <p:cNvSpPr/>
          <p:nvPr/>
        </p:nvSpPr>
        <p:spPr>
          <a:xfrm>
            <a:off x="9994392" y="3456432"/>
            <a:ext cx="164592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95560" y="2834640"/>
            <a:ext cx="1691640" cy="169164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30175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70332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Strict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24B"/>
                </a:solidFill>
                <a:latin typeface="Aptos"/>
              </a:defRPr>
            </a:pPr>
            <a:r>
              <a:t>Audit files explain what changed; the model never receives raw notes or names.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Prompt injection is stopped before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Untrusted data cannot become model instructions through raw text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108960" cy="2468880"/>
          </a:xfrm>
          <a:prstGeom prst="roundRect">
            <a:avLst/>
          </a:prstGeom>
          <a:solidFill>
            <a:srgbClr val="FF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UNTRUSTED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“Ignore instructions…”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Merchant names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Notes and identifiers</a:t>
            </a:r>
          </a:p>
        </p:txBody>
      </p:sp>
      <p:sp>
        <p:nvSpPr>
          <p:cNvPr id="10" name="Chevron 9"/>
          <p:cNvSpPr/>
          <p:nvPr/>
        </p:nvSpPr>
        <p:spPr>
          <a:xfrm>
            <a:off x="3886200" y="365760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3108960" cy="246888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ALLOWLIST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Known feature keys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Bounded numbers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Booleans or null</a:t>
            </a:r>
          </a:p>
        </p:txBody>
      </p:sp>
      <p:sp>
        <p:nvSpPr>
          <p:cNvPr id="14" name="Chevron 13"/>
          <p:cNvSpPr/>
          <p:nvPr/>
        </p:nvSpPr>
        <p:spPr>
          <a:xfrm>
            <a:off x="7726679" y="365760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743200"/>
            <a:ext cx="3108960" cy="246888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MODEL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611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Fixed system instruction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Typed JSON features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No raw text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How the small model makes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Use behavioral combinations, then compare the likelihood of SAFE and FRAUD.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EXAMPLE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New device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Foreign transaction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Amount 12× usual average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0" y="370332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743200"/>
            <a:ext cx="310896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SMALL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11880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Llama 3.2 1B Instruct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4-bit MLX conversion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Two candidate answers</a:t>
            </a:r>
          </a:p>
        </p:txBody>
      </p:sp>
      <p:sp>
        <p:nvSpPr>
          <p:cNvPr id="14" name="Chevron 13"/>
          <p:cNvSpPr/>
          <p:nvPr/>
        </p:nvSpPr>
        <p:spPr>
          <a:xfrm>
            <a:off x="7863840" y="370332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743200"/>
            <a:ext cx="310896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3611880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Higher-scoring class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Uncalibrated confidence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Evidence-based sentence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96B82"/>
                </a:solidFill>
                <a:latin typeface="Aptos"/>
              </a:defRPr>
            </a:pPr>
            <a:r>
              <a:t>Example only — this slide is not a measured model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Fine-tuning changes a small adapter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QLoRA keeps the quantized base model fixed and trains additional adapter weights.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246888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BASE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Existing language knowledge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Base weights remain fixed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Measure baseline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429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07D8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743200"/>
            <a:ext cx="3108960" cy="246888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LoRA 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611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512 synthetic scenarios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120 short training steps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Save and reload</a:t>
            </a:r>
          </a:p>
        </p:txBody>
      </p:sp>
      <p:sp>
        <p:nvSpPr>
          <p:cNvPr id="14" name="Chevron 13"/>
          <p:cNvSpPr/>
          <p:nvPr/>
        </p:nvSpPr>
        <p:spPr>
          <a:xfrm>
            <a:off x="7863840" y="3657600"/>
            <a:ext cx="411480" cy="457200"/>
          </a:xfrm>
          <a:prstGeom prst="chevron">
            <a:avLst/>
          </a:prstGeom>
          <a:solidFill>
            <a:srgbClr val="00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743200"/>
            <a:ext cx="3108960" cy="246888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TUNED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3611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Same evaluation cases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Measured comparison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Improvement not assumed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What our evaluation can honestly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No transaction fraud labels were included in the starter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303520" cy="274320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WE CAN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JSON validity and coverage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Injection boundary behavior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Synthetic scenario agreement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Runtime and training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2743200"/>
          </a:xfrm>
          <a:prstGeom prst="roundRect">
            <a:avLst/>
          </a:prstGeom>
          <a:solidFill>
            <a:srgbClr val="FF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WE CANNOT CLAIM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Real-world fraud accuracy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True fraud precision or recall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Calibrated probabilities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Guaranteed tuning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The output contract is deliberately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Python produces the JSON; the model supplies the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0324B"/>
                </a:solidFill>
                <a:latin typeface="Aptos"/>
              </a:defRPr>
            </a:pPr>
            <a:r>
              <a:t>{</a:t>
            </a:r>
          </a:p>
          <a:p>
            <a:pPr>
              <a:spcAft>
                <a:spcPts val="1200"/>
              </a:spcAft>
              <a:defRPr sz="2400" b="0">
                <a:solidFill>
                  <a:srgbClr val="20324B"/>
                </a:solidFill>
                <a:latin typeface="Aptos"/>
              </a:defRPr>
            </a:pPr>
            <a:r>
              <a:t>  "transaction_id": "TXN_00001",</a:t>
            </a:r>
          </a:p>
          <a:p>
            <a:pPr>
              <a:spcAft>
                <a:spcPts val="1200"/>
              </a:spcAft>
              <a:defRPr sz="2400" b="0">
                <a:solidFill>
                  <a:srgbClr val="20324B"/>
                </a:solidFill>
                <a:latin typeface="Aptos"/>
              </a:defRPr>
            </a:pPr>
            <a:r>
              <a:t>  "is_fraud": true,</a:t>
            </a:r>
          </a:p>
          <a:p>
            <a:pPr>
              <a:spcAft>
                <a:spcPts val="1200"/>
              </a:spcAft>
              <a:defRPr sz="2400" b="0">
                <a:solidFill>
                  <a:srgbClr val="20324B"/>
                </a:solidFill>
                <a:latin typeface="Aptos"/>
              </a:defRPr>
            </a:pPr>
            <a:r>
              <a:t>  "confidence": 0.92,</a:t>
            </a:r>
          </a:p>
          <a:p>
            <a:pPr>
              <a:spcAft>
                <a:spcPts val="1200"/>
              </a:spcAft>
              <a:defRPr sz="2400" b="0">
                <a:solidFill>
                  <a:srgbClr val="20324B"/>
                </a:solidFill>
                <a:latin typeface="Aptos"/>
              </a:defRPr>
            </a:pPr>
            <a:r>
              <a:t>  "justification": "The model flags risk after considering a new device."</a:t>
            </a:r>
          </a:p>
          <a:p>
            <a:pPr>
              <a:spcAft>
                <a:spcPts val="1200"/>
              </a:spcAft>
              <a:defRPr sz="2400" b="0">
                <a:solidFill>
                  <a:srgbClr val="20324B"/>
                </a:solidFill>
                <a:latin typeface="Apto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596B82"/>
                </a:solidFill>
                <a:latin typeface="Aptos"/>
              </a:defRPr>
            </a:pPr>
            <a:r>
              <a:t>Illustrative output only. Validation checks exact keys, types, finite confidence, and row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The entire run happens on this 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Apple MLX executes model training and inference locally; no cloud GPU is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303520" cy="274320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REPRODUCE 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Open the executed notebook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Use a Python 3.11+ kernel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Keep data/raw beside it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Run cells from top to bottom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274320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APPLE SILICON 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9377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Apple GPU backend: MLX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16 GB unified memory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Local pinned Llama weights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Saved QLoRA adapter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Submission: show the evidence, not just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The final package should make the solution easy to run and inspect.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Executed cells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Clear assumptions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Reproducible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Strict JSON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Original row order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Unique-ID alternative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Data audit + file hashes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Evaluation + environment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Saved LoRA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07D80"/>
                </a:solidFill>
                <a:latin typeface="Aptos"/>
              </a:defRPr>
            </a:pPr>
            <a:r>
              <a:t>Before submitting: run all cells, inspect evaluation.json, then save the executed notebook.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Measured results from the local Llama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These are recorded run results; synthetic agreement is not real fraud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MODEL +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1.24B base parameters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120 QLoRA steps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122 seconds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EIGHT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Base agreement: 50%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Tuned agreement: 62%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Adapter reload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VALIDATED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1,000 JSON records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Exact schema checked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Original input order 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96B82"/>
                </a:solidFill>
                <a:latin typeface="Aptos"/>
              </a:defRPr>
            </a:pPr>
            <a:r>
              <a:t>Separate 128-case synthetic holdout: 50.0% base → 75.0% tuned; real accuracy unknown.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7D80"/>
                </a:solidFill>
                <a:latin typeface="Aptos"/>
              </a:defRPr>
            </a:pPr>
            <a:r>
              <a:t>FRAUD SENTINEL  /  AI ENGINEERING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01D35"/>
                </a:solidFill>
                <a:latin typeface="Aptos"/>
              </a:defRPr>
            </a:pPr>
            <a:r>
              <a:t>Metadata cleaning: the baseline gap is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96B82"/>
                </a:solidFill>
                <a:latin typeface="Aptos"/>
              </a:defRPr>
            </a:pPr>
            <a:r>
              <a:t>Typed account/customer tables are cleaned, linked, and exported locally.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96B82"/>
                </a:solidFill>
                <a:latin typeface="Aptos"/>
              </a:defRPr>
            </a:pPr>
            <a:r>
              <a:t>RELATIONAL DATA → SMALL MODEL → STRICT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007D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21 account columns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26 customer columns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Typed values + issue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PRESERVE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Zero limits and signed balances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Original source rows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Conflicts and missing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383280" cy="2560320"/>
          </a:xfrm>
          <a:prstGeom prst="round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D80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11880"/>
            <a:ext cx="3017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178 accounts retained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124 customers retained</a:t>
            </a:r>
          </a:p>
          <a:p>
            <a:pPr>
              <a:spcAft>
                <a:spcPts val="1200"/>
              </a:spcAft>
              <a:defRPr sz="2000" b="0">
                <a:solidFill>
                  <a:srgbClr val="20324B"/>
                </a:solidFill>
                <a:latin typeface="Aptos"/>
              </a:defRPr>
            </a:pPr>
            <a:r>
              <a:t>Corrupt-metadata fixtures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Dummy data and cleaned results are now public; model prompts still use only typed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t>Fine-tuning checkpoint: inspect, download, reload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Frozen Llama 3.2 1B (4-bit)  +  trained QLoRA adapter  →  tuned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TRAINED</a:t>
            </a:r>
          </a:p>
          <a:p>
            <a:pPr>
              <a:defRPr sz="2100"/>
            </a:pPr>
            <a:r>
              <a:t>512 synthetic scenarios</a:t>
            </a:r>
          </a:p>
          <a:p>
            <a:pPr>
              <a:defRPr sz="2100"/>
            </a:pPr>
            <a:r>
              <a:t>120 steps; rank 8</a:t>
            </a:r>
          </a:p>
          <a:p>
            <a:pPr>
              <a:defRPr sz="2100"/>
            </a:pPr>
            <a:r>
              <a:t>851,968 trainable weights</a:t>
            </a:r>
          </a:p>
          <a:p>
            <a:pPr>
              <a:defRPr sz="2100"/>
            </a:pPr>
            <a:r>
              <a:t>16 layers: query/value adapters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7432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VERIFIED</a:t>
            </a:r>
          </a:p>
          <a:p>
            <a:pPr>
              <a:defRPr sz="2100"/>
            </a:pPr>
            <a:r>
              <a:t>Adapter saved and reloaded</a:t>
            </a:r>
          </a:p>
          <a:p>
            <a:pPr>
              <a:defRPr sz="2100"/>
            </a:pPr>
            <a:r>
              <a:t>1,000 schema-valid predictions</a:t>
            </a:r>
          </a:p>
          <a:p>
            <a:pPr>
              <a:defRPr sz="2100"/>
            </a:pPr>
            <a:r>
              <a:t>Synthetic holdout: 50% → 75%</a:t>
            </a:r>
          </a:p>
          <a:p>
            <a:pPr>
              <a:defRPr sz="2100"/>
            </a:pPr>
            <a:r>
              <a:t>Real-world accuracy unknown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PUBLISHED</a:t>
            </a:r>
          </a:p>
          <a:p>
            <a:pPr>
              <a:defRPr sz="2100"/>
            </a:pPr>
            <a:r>
              <a:t>Adapter + config + hashes</a:t>
            </a:r>
          </a:p>
          <a:p>
            <a:pPr>
              <a:defRPr sz="2100"/>
            </a:pPr>
            <a:r>
              <a:t>Dummy input CSVs</a:t>
            </a:r>
          </a:p>
          <a:p>
            <a:pPr>
              <a:defRPr sz="2100"/>
            </a:pPr>
            <a:r>
              <a:t>Predictions + cleaning reports</a:t>
            </a:r>
          </a:p>
          <a:p>
            <a:pPr>
              <a:defRPr sz="2100"/>
            </a:pPr>
            <a:r>
              <a:t>GitHub checkpoint ZIP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Built with Llama. Reloading requires the pinned base model and Apple MLX; viewing results does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